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7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9C720-6A2E-4EEE-9DA4-59294B92CE07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65E32-2717-4C86-B1DD-65671653F3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27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678" indent="-174678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9DDCE-6DF7-4425-88F8-A6909C4FCFCD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563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aseline="0" dirty="0" err="1" smtClean="0">
                <a:solidFill>
                  <a:srgbClr val="DE0400"/>
                </a:solidFill>
              </a:rPr>
              <a:t>MoM</a:t>
            </a:r>
            <a:r>
              <a:rPr lang="en-GB" sz="1200" baseline="0" dirty="0" smtClean="0">
                <a:solidFill>
                  <a:srgbClr val="DE0400"/>
                </a:solidFill>
              </a:rPr>
              <a:t> revenue impact on current base is 101K, representing 31% of current monthly out of bundle  revenue from Core plan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aseline="0" dirty="0" err="1" smtClean="0">
                <a:solidFill>
                  <a:srgbClr val="DE0400"/>
                </a:solidFill>
              </a:rPr>
              <a:t>MoM</a:t>
            </a:r>
            <a:r>
              <a:rPr lang="en-GB" sz="1200" baseline="0" dirty="0" smtClean="0">
                <a:solidFill>
                  <a:srgbClr val="DE0400"/>
                </a:solidFill>
              </a:rPr>
              <a:t> revenue impact on current base is 128K, representing 39% of current monthly out of bundle  revenue from Core plan</a:t>
            </a:r>
          </a:p>
          <a:p>
            <a:pPr marL="228600" indent="-228600">
              <a:buAutoNum type="arabicPeriod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3E1866-6ABF-4414-AFB5-B91146A1FA1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294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688" indent="-174688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9DDCE-6DF7-4425-88F8-A6909C4FCFCD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921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C51132-D338-4573-9C00-2F8D0C3B4D8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33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20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50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01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95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61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91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069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039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20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52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889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57200" y="1442205"/>
            <a:ext cx="7810718" cy="4770213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 marL="1079473" indent="0">
              <a:buNone/>
              <a:defRPr/>
            </a:lvl4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1" y="274638"/>
            <a:ext cx="7810716" cy="11675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dirty="0" smtClean="0"/>
              <a:t>Insert Confidentiality Level in slide footer </a:t>
            </a:r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A7C8834-FB40-4F56-935F-46565A85CAC1}" type="datetime3">
              <a:rPr lang="en-US" smtClean="0"/>
              <a:t>15 May 2018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953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tement an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1316568"/>
            <a:ext cx="3598863" cy="489585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5600">
                <a:latin typeface="Vodafone Rg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279900" y="1532468"/>
            <a:ext cx="1693862" cy="4679951"/>
          </a:xfrm>
        </p:spPr>
        <p:txBody>
          <a:bodyPr/>
          <a:lstStyle>
            <a:lvl1pPr marL="0" indent="0">
              <a:spcAft>
                <a:spcPts val="1600"/>
              </a:spcAft>
              <a:buNone/>
              <a:defRPr sz="1600"/>
            </a:lvl1pPr>
            <a:lvl2pPr marL="355591" indent="0">
              <a:buNone/>
              <a:defRPr sz="1400"/>
            </a:lvl2pPr>
            <a:lvl3pPr marL="723882" indent="0">
              <a:buNone/>
              <a:defRPr sz="1400"/>
            </a:lvl3pPr>
            <a:lvl4pPr marL="1079473" indent="0">
              <a:buNone/>
              <a:defRPr sz="1333"/>
            </a:lvl4pPr>
            <a:lvl5pPr marL="1320767" indent="0">
              <a:buNone/>
              <a:defRPr sz="1333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188076" y="1532468"/>
            <a:ext cx="1693862" cy="4679951"/>
          </a:xfrm>
        </p:spPr>
        <p:txBody>
          <a:bodyPr/>
          <a:lstStyle>
            <a:lvl1pPr marL="0" indent="0">
              <a:spcAft>
                <a:spcPts val="1600"/>
              </a:spcAft>
              <a:buNone/>
              <a:defRPr sz="1600"/>
            </a:lvl1pPr>
            <a:lvl2pPr marL="355591" indent="0">
              <a:buNone/>
              <a:defRPr sz="1400"/>
            </a:lvl2pPr>
            <a:lvl3pPr marL="723882" indent="0">
              <a:buNone/>
              <a:defRPr sz="1400"/>
            </a:lvl3pPr>
            <a:lvl4pPr marL="1079473" indent="0">
              <a:buNone/>
              <a:defRPr sz="1333"/>
            </a:lvl4pPr>
            <a:lvl5pPr marL="1320767" indent="0">
              <a:buNone/>
              <a:defRPr sz="1333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lvl="0" algn="l"/>
            <a:r>
              <a:rPr lang="en-GB" dirty="0" smtClean="0">
                <a:solidFill>
                  <a:schemeClr val="tx1"/>
                </a:solidFill>
              </a:rPr>
              <a:t>Insert Confidentiality Level in slide footer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FA8D524-68A2-4395-A4A6-55646E807998}" type="datetime3">
              <a:rPr lang="en-US" smtClean="0"/>
              <a:t>15 May 2018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3225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8F541-D202-47B6-A3A6-657798FCA391}" type="datetimeFigureOut">
              <a:rPr lang="en-GB" smtClean="0"/>
              <a:t>16/05/2018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6B9B5-4431-403C-9624-26E398916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12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5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/>
          <p:cNvSpPr/>
          <p:nvPr/>
        </p:nvSpPr>
        <p:spPr bwMode="auto">
          <a:xfrm>
            <a:off x="3776677" y="1159355"/>
            <a:ext cx="985058" cy="473259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400" b="1" dirty="0" err="1">
                <a:solidFill>
                  <a:schemeClr val="accent1"/>
                </a:solidFill>
                <a:latin typeface="Vodafone ExB" panose="020B0503060202020204" pitchFamily="34" charset="0"/>
              </a:rPr>
              <a:t>Onnet</a:t>
            </a:r>
            <a:endParaRPr lang="en-GB" sz="24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4929652" y="3672819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5</a:t>
            </a: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50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4929652" y="1159355"/>
            <a:ext cx="985058" cy="473259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400" b="1" dirty="0">
                <a:solidFill>
                  <a:schemeClr val="accent1"/>
                </a:solidFill>
                <a:latin typeface="Vodafone ExB" panose="020B0503060202020204" pitchFamily="34" charset="0"/>
              </a:rPr>
              <a:t>Off-net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6080692" y="3672819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2.8 GB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6080692" y="1159355"/>
            <a:ext cx="985058" cy="473259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400" b="1" dirty="0">
                <a:solidFill>
                  <a:schemeClr val="accent1"/>
                </a:solidFill>
                <a:latin typeface="Vodafone ExB" panose="020B0503060202020204" pitchFamily="34" charset="0"/>
              </a:rPr>
              <a:t>Data </a:t>
            </a:r>
          </a:p>
        </p:txBody>
      </p:sp>
      <p:sp>
        <p:nvSpPr>
          <p:cNvPr id="114" name="Rectangle 113"/>
          <p:cNvSpPr/>
          <p:nvPr/>
        </p:nvSpPr>
        <p:spPr bwMode="auto">
          <a:xfrm>
            <a:off x="7225469" y="3672819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115" name="Rectangle 114"/>
          <p:cNvSpPr/>
          <p:nvPr/>
        </p:nvSpPr>
        <p:spPr bwMode="auto">
          <a:xfrm>
            <a:off x="7225469" y="1159355"/>
            <a:ext cx="985058" cy="473259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400" b="1" dirty="0">
                <a:solidFill>
                  <a:schemeClr val="accent1"/>
                </a:solidFill>
                <a:latin typeface="Vodafone ExB" panose="020B0503060202020204" pitchFamily="34" charset="0"/>
              </a:rPr>
              <a:t>SMS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4929652" y="319530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7</a:t>
            </a: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50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6080692" y="319530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3.5GB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1" name="Rectangle 120"/>
          <p:cNvSpPr/>
          <p:nvPr/>
        </p:nvSpPr>
        <p:spPr bwMode="auto">
          <a:xfrm>
            <a:off x="7225469" y="319530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123" name="Rectangle 122"/>
          <p:cNvSpPr/>
          <p:nvPr/>
        </p:nvSpPr>
        <p:spPr bwMode="auto">
          <a:xfrm>
            <a:off x="4929652" y="415033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350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4" name="Rectangle 123"/>
          <p:cNvSpPr/>
          <p:nvPr/>
        </p:nvSpPr>
        <p:spPr bwMode="auto">
          <a:xfrm>
            <a:off x="6080692" y="415033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1.5 </a:t>
            </a:r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G</a:t>
            </a: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B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7225469" y="415033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4929652" y="271779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1000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1" name="Rectangle 130"/>
          <p:cNvSpPr/>
          <p:nvPr/>
        </p:nvSpPr>
        <p:spPr bwMode="auto">
          <a:xfrm>
            <a:off x="6080692" y="271779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4</a:t>
            </a: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.5 </a:t>
            </a:r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GB</a:t>
            </a:r>
          </a:p>
        </p:txBody>
      </p:sp>
      <p:sp>
        <p:nvSpPr>
          <p:cNvPr id="132" name="Rectangle 131"/>
          <p:cNvSpPr/>
          <p:nvPr/>
        </p:nvSpPr>
        <p:spPr bwMode="auto">
          <a:xfrm>
            <a:off x="7225469" y="271779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135" name="Rectangle 134"/>
          <p:cNvSpPr/>
          <p:nvPr/>
        </p:nvSpPr>
        <p:spPr bwMode="auto">
          <a:xfrm>
            <a:off x="4929652" y="462785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180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7225469" y="462785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139" name="Rectangle 138"/>
          <p:cNvSpPr/>
          <p:nvPr/>
        </p:nvSpPr>
        <p:spPr bwMode="auto">
          <a:xfrm>
            <a:off x="4929652" y="224027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1250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6080692" y="224027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5.8GB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7225469" y="224027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143" name="Rectangle 142"/>
          <p:cNvSpPr/>
          <p:nvPr/>
        </p:nvSpPr>
        <p:spPr bwMode="auto">
          <a:xfrm>
            <a:off x="3776677" y="1762759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4929652" y="1762759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1500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6" name="Rectangle 145"/>
          <p:cNvSpPr/>
          <p:nvPr/>
        </p:nvSpPr>
        <p:spPr bwMode="auto">
          <a:xfrm>
            <a:off x="6080692" y="1762759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8</a:t>
            </a: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GB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7225469" y="1762759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2040832" y="1762759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200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6080692" y="462785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7</a:t>
            </a: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50 </a:t>
            </a:r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MB</a:t>
            </a:r>
          </a:p>
        </p:txBody>
      </p:sp>
      <p:sp>
        <p:nvSpPr>
          <p:cNvPr id="172" name="Rectangle 171"/>
          <p:cNvSpPr/>
          <p:nvPr/>
        </p:nvSpPr>
        <p:spPr bwMode="auto">
          <a:xfrm>
            <a:off x="4929652" y="510536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100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7225469" y="510536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50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6" name="Rectangle 175"/>
          <p:cNvSpPr/>
          <p:nvPr/>
        </p:nvSpPr>
        <p:spPr bwMode="auto">
          <a:xfrm>
            <a:off x="6080692" y="510536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3</a:t>
            </a: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00 </a:t>
            </a:r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MB</a:t>
            </a:r>
          </a:p>
        </p:txBody>
      </p:sp>
      <p:sp>
        <p:nvSpPr>
          <p:cNvPr id="178" name="Rectangle 177"/>
          <p:cNvSpPr/>
          <p:nvPr/>
        </p:nvSpPr>
        <p:spPr bwMode="auto">
          <a:xfrm>
            <a:off x="4929652" y="558288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>
                <a:solidFill>
                  <a:schemeClr val="bg2">
                    <a:lumMod val="75000"/>
                  </a:schemeClr>
                </a:solidFill>
              </a:rPr>
              <a:t>100</a:t>
            </a:r>
          </a:p>
        </p:txBody>
      </p:sp>
      <p:sp>
        <p:nvSpPr>
          <p:cNvPr id="179" name="Rectangle 178"/>
          <p:cNvSpPr/>
          <p:nvPr/>
        </p:nvSpPr>
        <p:spPr bwMode="auto">
          <a:xfrm>
            <a:off x="6080692" y="558288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0" name="Rectangle 179"/>
          <p:cNvSpPr/>
          <p:nvPr/>
        </p:nvSpPr>
        <p:spPr bwMode="auto">
          <a:xfrm>
            <a:off x="7225469" y="558288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50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0" name="Rectangle 209"/>
          <p:cNvSpPr/>
          <p:nvPr/>
        </p:nvSpPr>
        <p:spPr bwMode="auto">
          <a:xfrm>
            <a:off x="4929652" y="6060391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1" name="Rectangle 210"/>
          <p:cNvSpPr/>
          <p:nvPr/>
        </p:nvSpPr>
        <p:spPr bwMode="auto">
          <a:xfrm>
            <a:off x="6080692" y="6060391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>
                <a:solidFill>
                  <a:schemeClr val="bg2">
                    <a:lumMod val="75000"/>
                  </a:schemeClr>
                </a:solidFill>
              </a:rPr>
              <a:t>300 MB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2" name="Rectangle 211"/>
          <p:cNvSpPr/>
          <p:nvPr/>
        </p:nvSpPr>
        <p:spPr bwMode="auto">
          <a:xfrm>
            <a:off x="7225469" y="6060391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50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8" name="Rectangle 247"/>
          <p:cNvSpPr/>
          <p:nvPr/>
        </p:nvSpPr>
        <p:spPr bwMode="auto">
          <a:xfrm>
            <a:off x="3776677" y="224027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9" name="Rectangle 248"/>
          <p:cNvSpPr/>
          <p:nvPr/>
        </p:nvSpPr>
        <p:spPr bwMode="auto">
          <a:xfrm>
            <a:off x="3776677" y="271779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0" name="Rectangle 249"/>
          <p:cNvSpPr/>
          <p:nvPr/>
        </p:nvSpPr>
        <p:spPr bwMode="auto">
          <a:xfrm>
            <a:off x="3776677" y="319530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1" name="Rectangle 250"/>
          <p:cNvSpPr/>
          <p:nvPr/>
        </p:nvSpPr>
        <p:spPr bwMode="auto">
          <a:xfrm>
            <a:off x="3776677" y="3672819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2" name="Rectangle 251"/>
          <p:cNvSpPr/>
          <p:nvPr/>
        </p:nvSpPr>
        <p:spPr bwMode="auto">
          <a:xfrm>
            <a:off x="3776677" y="415033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3" name="Rectangle 252"/>
          <p:cNvSpPr/>
          <p:nvPr/>
        </p:nvSpPr>
        <p:spPr bwMode="auto">
          <a:xfrm>
            <a:off x="3776677" y="462785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4" name="Rectangle 253"/>
          <p:cNvSpPr/>
          <p:nvPr/>
        </p:nvSpPr>
        <p:spPr bwMode="auto">
          <a:xfrm>
            <a:off x="3776677" y="5105365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5" name="Rectangle 254"/>
          <p:cNvSpPr/>
          <p:nvPr/>
        </p:nvSpPr>
        <p:spPr bwMode="auto">
          <a:xfrm>
            <a:off x="3776677" y="5582880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6" name="Rectangle 255"/>
          <p:cNvSpPr/>
          <p:nvPr/>
        </p:nvSpPr>
        <p:spPr bwMode="auto">
          <a:xfrm>
            <a:off x="3776677" y="6060391"/>
            <a:ext cx="985058" cy="3555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Unlimited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9" name="Rectangle 258"/>
          <p:cNvSpPr/>
          <p:nvPr/>
        </p:nvSpPr>
        <p:spPr bwMode="auto">
          <a:xfrm>
            <a:off x="2040832" y="2240275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180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60" name="Rectangle 259"/>
          <p:cNvSpPr/>
          <p:nvPr/>
        </p:nvSpPr>
        <p:spPr bwMode="auto">
          <a:xfrm>
            <a:off x="2040832" y="2717790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150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61" name="Rectangle 260"/>
          <p:cNvSpPr/>
          <p:nvPr/>
        </p:nvSpPr>
        <p:spPr bwMode="auto">
          <a:xfrm>
            <a:off x="2040832" y="3195305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120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62" name="Rectangle 261"/>
          <p:cNvSpPr/>
          <p:nvPr/>
        </p:nvSpPr>
        <p:spPr bwMode="auto">
          <a:xfrm>
            <a:off x="2040832" y="3672819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90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63" name="Rectangle 262"/>
          <p:cNvSpPr/>
          <p:nvPr/>
        </p:nvSpPr>
        <p:spPr bwMode="auto">
          <a:xfrm>
            <a:off x="2040832" y="4150335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60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64" name="Rectangle 263"/>
          <p:cNvSpPr/>
          <p:nvPr/>
        </p:nvSpPr>
        <p:spPr bwMode="auto">
          <a:xfrm>
            <a:off x="2040832" y="4627850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30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65" name="Rectangle 264"/>
          <p:cNvSpPr/>
          <p:nvPr/>
        </p:nvSpPr>
        <p:spPr bwMode="auto">
          <a:xfrm>
            <a:off x="2040832" y="5105365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20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66" name="Rectangle 265"/>
          <p:cNvSpPr/>
          <p:nvPr/>
        </p:nvSpPr>
        <p:spPr bwMode="auto">
          <a:xfrm>
            <a:off x="2040832" y="5582880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15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67" name="Rectangle 266"/>
          <p:cNvSpPr/>
          <p:nvPr/>
        </p:nvSpPr>
        <p:spPr bwMode="auto">
          <a:xfrm>
            <a:off x="2040832" y="6060391"/>
            <a:ext cx="1617208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15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70" name="Rectangle 269"/>
          <p:cNvSpPr/>
          <p:nvPr/>
        </p:nvSpPr>
        <p:spPr bwMode="auto">
          <a:xfrm>
            <a:off x="974116" y="3672819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>
                <a:solidFill>
                  <a:schemeClr val="accent1"/>
                </a:solidFill>
                <a:latin typeface="Vodafone ExB" panose="020B0503060202020204" pitchFamily="34" charset="0"/>
              </a:rPr>
              <a:t>9</a:t>
            </a:r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0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71" name="Rectangle 270"/>
          <p:cNvSpPr/>
          <p:nvPr/>
        </p:nvSpPr>
        <p:spPr bwMode="auto">
          <a:xfrm>
            <a:off x="955672" y="1131267"/>
            <a:ext cx="814097" cy="473259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400" b="1" dirty="0">
                <a:solidFill>
                  <a:schemeClr val="accent1"/>
                </a:solidFill>
                <a:latin typeface="Vodafone ExB" panose="020B0503060202020204" pitchFamily="34" charset="0"/>
              </a:rPr>
              <a:t>Price</a:t>
            </a:r>
          </a:p>
        </p:txBody>
      </p:sp>
      <p:sp>
        <p:nvSpPr>
          <p:cNvPr id="272" name="Rectangle 271"/>
          <p:cNvSpPr/>
          <p:nvPr/>
        </p:nvSpPr>
        <p:spPr bwMode="auto">
          <a:xfrm>
            <a:off x="974116" y="3195305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120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73" name="Rectangle 272"/>
          <p:cNvSpPr/>
          <p:nvPr/>
        </p:nvSpPr>
        <p:spPr bwMode="auto">
          <a:xfrm>
            <a:off x="974116" y="4150335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60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74" name="Rectangle 273"/>
          <p:cNvSpPr/>
          <p:nvPr/>
        </p:nvSpPr>
        <p:spPr bwMode="auto">
          <a:xfrm>
            <a:off x="974116" y="2717790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150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75" name="Rectangle 274"/>
          <p:cNvSpPr/>
          <p:nvPr/>
        </p:nvSpPr>
        <p:spPr bwMode="auto">
          <a:xfrm>
            <a:off x="974116" y="4627850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30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76" name="Rectangle 275"/>
          <p:cNvSpPr/>
          <p:nvPr/>
        </p:nvSpPr>
        <p:spPr bwMode="auto">
          <a:xfrm>
            <a:off x="974116" y="2240275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180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77" name="Rectangle 276"/>
          <p:cNvSpPr/>
          <p:nvPr/>
        </p:nvSpPr>
        <p:spPr bwMode="auto">
          <a:xfrm>
            <a:off x="974116" y="1762759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200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78" name="Rectangle 277"/>
          <p:cNvSpPr/>
          <p:nvPr/>
        </p:nvSpPr>
        <p:spPr bwMode="auto">
          <a:xfrm>
            <a:off x="974116" y="5105365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20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79" name="Rectangle 278"/>
          <p:cNvSpPr/>
          <p:nvPr/>
        </p:nvSpPr>
        <p:spPr bwMode="auto">
          <a:xfrm>
            <a:off x="974116" y="5582880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15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82" name="Rectangle 281"/>
          <p:cNvSpPr/>
          <p:nvPr/>
        </p:nvSpPr>
        <p:spPr bwMode="auto">
          <a:xfrm>
            <a:off x="974116" y="6060391"/>
            <a:ext cx="814097" cy="355567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6042"/>
            <a:r>
              <a:rPr lang="en-GB" sz="20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15</a:t>
            </a:r>
            <a:endParaRPr lang="en-GB" sz="20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7705" y="106392"/>
            <a:ext cx="3141706" cy="6932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GB" sz="3200" dirty="0" smtClean="0">
                <a:solidFill>
                  <a:schemeClr val="accent1"/>
                </a:solidFill>
                <a:latin typeface="Vodafone Rg" pitchFamily="34" charset="0"/>
              </a:rPr>
              <a:t>Smart Business Package</a:t>
            </a:r>
          </a:p>
        </p:txBody>
      </p:sp>
    </p:spTree>
    <p:extLst>
      <p:ext uri="{BB962C8B-B14F-4D97-AF65-F5344CB8AC3E}">
        <p14:creationId xmlns:p14="http://schemas.microsoft.com/office/powerpoint/2010/main" val="176127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7599" y="166122"/>
            <a:ext cx="2553516" cy="470437"/>
          </a:xfrm>
        </p:spPr>
        <p:txBody>
          <a:bodyPr/>
          <a:lstStyle/>
          <a:p>
            <a:r>
              <a:rPr lang="en-GB" sz="4000" dirty="0" smtClean="0"/>
              <a:t>SME  Packages</a:t>
            </a:r>
            <a:endParaRPr lang="en-GB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4469189" y="603053"/>
            <a:ext cx="1179887" cy="406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On-net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30414" y="636560"/>
            <a:ext cx="1072888" cy="406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Off-net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93947" y="636560"/>
            <a:ext cx="904223" cy="406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Data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69821" y="618071"/>
            <a:ext cx="904223" cy="406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SMS</a:t>
            </a:r>
          </a:p>
        </p:txBody>
      </p:sp>
      <p:sp>
        <p:nvSpPr>
          <p:cNvPr id="78" name="Rectangle 77"/>
          <p:cNvSpPr/>
          <p:nvPr/>
        </p:nvSpPr>
        <p:spPr bwMode="auto">
          <a:xfrm>
            <a:off x="2196853" y="1043324"/>
            <a:ext cx="13242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bg2"/>
                </a:solidFill>
                <a:latin typeface="Vodafone ExB" panose="020B0503060202020204" pitchFamily="34" charset="0"/>
              </a:rPr>
              <a:t>100</a:t>
            </a:r>
            <a:endParaRPr lang="en-GB" sz="2400" b="1" dirty="0">
              <a:solidFill>
                <a:schemeClr val="bg2"/>
              </a:solidFill>
              <a:latin typeface="Vodafone ExB" panose="020B0503060202020204" pitchFamily="34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2196853" y="1447635"/>
            <a:ext cx="1324260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100</a:t>
            </a:r>
            <a:endParaRPr lang="en-GB" sz="24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2196853" y="1965067"/>
            <a:ext cx="13242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bg2"/>
                </a:solidFill>
                <a:latin typeface="Vodafone ExB" panose="020B0503060202020204" pitchFamily="34" charset="0"/>
              </a:rPr>
              <a:t>80</a:t>
            </a:r>
            <a:endParaRPr lang="en-GB" sz="2400" b="1" dirty="0">
              <a:solidFill>
                <a:schemeClr val="bg2"/>
              </a:solidFill>
              <a:latin typeface="Vodafone ExB" panose="020B0503060202020204" pitchFamily="34" charset="0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2196853" y="2378805"/>
            <a:ext cx="1324260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80</a:t>
            </a:r>
            <a:endParaRPr lang="en-GB" sz="24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2196853" y="2886810"/>
            <a:ext cx="13242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bg2"/>
                </a:solidFill>
                <a:latin typeface="Vodafone ExB" panose="020B0503060202020204" pitchFamily="34" charset="0"/>
              </a:rPr>
              <a:t>50</a:t>
            </a:r>
            <a:endParaRPr lang="en-GB" sz="2400" b="1" dirty="0">
              <a:solidFill>
                <a:schemeClr val="bg2"/>
              </a:solidFill>
              <a:latin typeface="Vodafone ExB" panose="020B0503060202020204" pitchFamily="34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2196853" y="3300548"/>
            <a:ext cx="1324260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50</a:t>
            </a:r>
            <a:endParaRPr lang="en-GB" sz="24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2196853" y="4730296"/>
            <a:ext cx="13242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bg2"/>
                </a:solidFill>
                <a:latin typeface="Vodafone ExB" panose="020B0503060202020204" pitchFamily="34" charset="0"/>
              </a:rPr>
              <a:t>20</a:t>
            </a:r>
            <a:endParaRPr lang="en-GB" sz="2400" b="1" dirty="0">
              <a:solidFill>
                <a:schemeClr val="bg2"/>
              </a:solidFill>
              <a:latin typeface="Vodafone ExB" panose="020B0503060202020204" pitchFamily="34" charset="0"/>
            </a:endParaRPr>
          </a:p>
        </p:txBody>
      </p:sp>
      <p:sp>
        <p:nvSpPr>
          <p:cNvPr id="113" name="Rectangle 112"/>
          <p:cNvSpPr/>
          <p:nvPr/>
        </p:nvSpPr>
        <p:spPr bwMode="auto">
          <a:xfrm>
            <a:off x="2196853" y="5144034"/>
            <a:ext cx="1324260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20</a:t>
            </a:r>
            <a:endParaRPr lang="en-GB" sz="24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2196853" y="5652039"/>
            <a:ext cx="13242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 smtClean="0">
                <a:solidFill>
                  <a:schemeClr val="bg2"/>
                </a:solidFill>
                <a:latin typeface="Vodafone ExB" panose="020B0503060202020204" pitchFamily="34" charset="0"/>
              </a:rPr>
              <a:t>10</a:t>
            </a:r>
            <a:endParaRPr lang="en-GB" sz="2400" b="1" dirty="0">
              <a:solidFill>
                <a:schemeClr val="bg2"/>
              </a:solidFill>
              <a:latin typeface="Vodafone ExB" panose="020B0503060202020204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2196853" y="6112915"/>
            <a:ext cx="1324260" cy="369785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>
                <a:solidFill>
                  <a:schemeClr val="bg2"/>
                </a:solidFill>
                <a:latin typeface="Vodafone ExB" panose="020B0503060202020204" pitchFamily="34" charset="0"/>
              </a:rPr>
              <a:t>5</a:t>
            </a:r>
          </a:p>
        </p:txBody>
      </p:sp>
      <p:sp>
        <p:nvSpPr>
          <p:cNvPr id="132" name="Rectangle 131"/>
          <p:cNvSpPr/>
          <p:nvPr/>
        </p:nvSpPr>
        <p:spPr bwMode="auto">
          <a:xfrm>
            <a:off x="2196853" y="3808553"/>
            <a:ext cx="13242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>
                <a:solidFill>
                  <a:schemeClr val="bg2"/>
                </a:solidFill>
                <a:latin typeface="Vodafone ExB" panose="020B0503060202020204" pitchFamily="34" charset="0"/>
              </a:rPr>
              <a:t>3</a:t>
            </a:r>
            <a:r>
              <a:rPr lang="en-GB" sz="2400" b="1" dirty="0" smtClean="0">
                <a:solidFill>
                  <a:schemeClr val="bg2"/>
                </a:solidFill>
                <a:latin typeface="Vodafone ExB" panose="020B0503060202020204" pitchFamily="34" charset="0"/>
              </a:rPr>
              <a:t>0</a:t>
            </a:r>
            <a:endParaRPr lang="en-GB" sz="2400" b="1" dirty="0">
              <a:solidFill>
                <a:schemeClr val="bg2"/>
              </a:solidFill>
              <a:latin typeface="Vodafone ExB" panose="020B0503060202020204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2196853" y="4222291"/>
            <a:ext cx="1324260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2400" b="1" dirty="0">
                <a:solidFill>
                  <a:schemeClr val="accent1"/>
                </a:solidFill>
                <a:latin typeface="Vodafone ExB" panose="020B0503060202020204" pitchFamily="34" charset="0"/>
              </a:rPr>
              <a:t>3</a:t>
            </a:r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0</a:t>
            </a:r>
            <a:endParaRPr lang="en-GB" sz="2400" b="1" dirty="0">
              <a:solidFill>
                <a:schemeClr val="accent1"/>
              </a:solidFill>
              <a:latin typeface="Vodafone ExB" panose="020B050306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3624375" y="1043324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bg2"/>
                </a:solidFill>
              </a:rPr>
              <a:t>(voice</a:t>
            </a:r>
            <a:r>
              <a:rPr lang="en-GB" sz="1600" b="1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3624375" y="1447635"/>
            <a:ext cx="867032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accent1"/>
                </a:solidFill>
              </a:rPr>
              <a:t> </a:t>
            </a:r>
            <a:r>
              <a:rPr lang="en-GB" sz="1600" b="1" dirty="0">
                <a:solidFill>
                  <a:schemeClr val="accent1"/>
                </a:solidFill>
              </a:rPr>
              <a:t>(data)</a:t>
            </a:r>
          </a:p>
        </p:txBody>
      </p:sp>
      <p:sp>
        <p:nvSpPr>
          <p:cNvPr id="134" name="Rectangle 133"/>
          <p:cNvSpPr/>
          <p:nvPr/>
        </p:nvSpPr>
        <p:spPr bwMode="auto">
          <a:xfrm>
            <a:off x="3624375" y="1965067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bg2"/>
                </a:solidFill>
              </a:rPr>
              <a:t>(voice</a:t>
            </a:r>
            <a:r>
              <a:rPr lang="en-GB" sz="1600" b="1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35" name="Rectangle 134"/>
          <p:cNvSpPr/>
          <p:nvPr/>
        </p:nvSpPr>
        <p:spPr bwMode="auto">
          <a:xfrm>
            <a:off x="3624375" y="2378805"/>
            <a:ext cx="867032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accent1"/>
                </a:solidFill>
              </a:rPr>
              <a:t> </a:t>
            </a:r>
            <a:r>
              <a:rPr lang="en-GB" sz="1600" b="1" dirty="0">
                <a:solidFill>
                  <a:schemeClr val="accent1"/>
                </a:solidFill>
              </a:rPr>
              <a:t>(data)</a:t>
            </a:r>
          </a:p>
        </p:txBody>
      </p:sp>
      <p:sp>
        <p:nvSpPr>
          <p:cNvPr id="142" name="Rectangle 141"/>
          <p:cNvSpPr/>
          <p:nvPr/>
        </p:nvSpPr>
        <p:spPr bwMode="auto">
          <a:xfrm>
            <a:off x="3624375" y="2886810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bg2"/>
                </a:solidFill>
              </a:rPr>
              <a:t>(voice</a:t>
            </a:r>
            <a:r>
              <a:rPr lang="en-GB" sz="1600" b="1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43" name="Rectangle 142"/>
          <p:cNvSpPr/>
          <p:nvPr/>
        </p:nvSpPr>
        <p:spPr bwMode="auto">
          <a:xfrm>
            <a:off x="3624375" y="3300548"/>
            <a:ext cx="867032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accent1"/>
                </a:solidFill>
              </a:rPr>
              <a:t> </a:t>
            </a:r>
            <a:r>
              <a:rPr lang="en-GB" sz="1600" b="1" dirty="0">
                <a:solidFill>
                  <a:schemeClr val="accent1"/>
                </a:solidFill>
              </a:rPr>
              <a:t>(data)</a:t>
            </a:r>
          </a:p>
        </p:txBody>
      </p:sp>
      <p:sp>
        <p:nvSpPr>
          <p:cNvPr id="144" name="Rectangle 143"/>
          <p:cNvSpPr/>
          <p:nvPr/>
        </p:nvSpPr>
        <p:spPr bwMode="auto">
          <a:xfrm>
            <a:off x="3624375" y="3808553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bg2"/>
                </a:solidFill>
              </a:rPr>
              <a:t>(voice</a:t>
            </a:r>
            <a:r>
              <a:rPr lang="en-GB" sz="1600" b="1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45" name="Rectangle 144"/>
          <p:cNvSpPr/>
          <p:nvPr/>
        </p:nvSpPr>
        <p:spPr bwMode="auto">
          <a:xfrm>
            <a:off x="3624375" y="4222291"/>
            <a:ext cx="867032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accent1"/>
                </a:solidFill>
              </a:rPr>
              <a:t> </a:t>
            </a:r>
            <a:r>
              <a:rPr lang="en-GB" sz="1600" b="1" dirty="0">
                <a:solidFill>
                  <a:schemeClr val="accent1"/>
                </a:solidFill>
              </a:rPr>
              <a:t>(data)</a:t>
            </a:r>
          </a:p>
        </p:txBody>
      </p:sp>
      <p:sp>
        <p:nvSpPr>
          <p:cNvPr id="146" name="Rectangle 145"/>
          <p:cNvSpPr/>
          <p:nvPr/>
        </p:nvSpPr>
        <p:spPr bwMode="auto">
          <a:xfrm>
            <a:off x="3624375" y="4730296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bg2"/>
                </a:solidFill>
              </a:rPr>
              <a:t>(voice</a:t>
            </a:r>
            <a:r>
              <a:rPr lang="en-GB" sz="1600" b="1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3624375" y="5144034"/>
            <a:ext cx="867032" cy="3697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 smtClean="0">
                <a:solidFill>
                  <a:schemeClr val="accent1"/>
                </a:solidFill>
              </a:rPr>
              <a:t> </a:t>
            </a:r>
            <a:r>
              <a:rPr lang="en-GB" sz="1600" b="1" dirty="0">
                <a:solidFill>
                  <a:schemeClr val="accent1"/>
                </a:solidFill>
              </a:rPr>
              <a:t>(data)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6618978" y="1043324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5.5 GB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6618978" y="1447634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8.5 GB</a:t>
            </a:r>
          </a:p>
        </p:txBody>
      </p:sp>
      <p:sp>
        <p:nvSpPr>
          <p:cNvPr id="85" name="Rectangle 84"/>
          <p:cNvSpPr/>
          <p:nvPr/>
        </p:nvSpPr>
        <p:spPr bwMode="auto">
          <a:xfrm>
            <a:off x="6618979" y="1965068"/>
            <a:ext cx="8717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4.2 GB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6618978" y="2378805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6.5 GB</a:t>
            </a:r>
          </a:p>
        </p:txBody>
      </p:sp>
      <p:sp>
        <p:nvSpPr>
          <p:cNvPr id="95" name="Rectangle 94"/>
          <p:cNvSpPr/>
          <p:nvPr/>
        </p:nvSpPr>
        <p:spPr bwMode="auto">
          <a:xfrm>
            <a:off x="6618979" y="3300549"/>
            <a:ext cx="85416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4 GB</a:t>
            </a:r>
          </a:p>
        </p:txBody>
      </p:sp>
      <p:sp>
        <p:nvSpPr>
          <p:cNvPr id="96" name="Rectangle 95"/>
          <p:cNvSpPr/>
          <p:nvPr/>
        </p:nvSpPr>
        <p:spPr bwMode="auto">
          <a:xfrm>
            <a:off x="6618978" y="2886812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2.5 GB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6618979" y="3808556"/>
            <a:ext cx="868367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 GB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6618978" y="4222293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2.2 GB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6618979" y="4730300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700 MB</a:t>
            </a:r>
          </a:p>
        </p:txBody>
      </p:sp>
      <p:sp>
        <p:nvSpPr>
          <p:cNvPr id="125" name="Rectangle 124"/>
          <p:cNvSpPr/>
          <p:nvPr/>
        </p:nvSpPr>
        <p:spPr bwMode="auto">
          <a:xfrm>
            <a:off x="6618978" y="5144037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1.2 GB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6618979" y="5652044"/>
            <a:ext cx="85416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500 MB</a:t>
            </a:r>
          </a:p>
        </p:txBody>
      </p:sp>
      <p:sp>
        <p:nvSpPr>
          <p:cNvPr id="154" name="Rectangle 153"/>
          <p:cNvSpPr/>
          <p:nvPr/>
        </p:nvSpPr>
        <p:spPr bwMode="auto">
          <a:xfrm>
            <a:off x="6618979" y="6112914"/>
            <a:ext cx="85416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200 MB</a:t>
            </a:r>
          </a:p>
        </p:txBody>
      </p:sp>
      <p:sp>
        <p:nvSpPr>
          <p:cNvPr id="284" name="Rectangle 283"/>
          <p:cNvSpPr/>
          <p:nvPr/>
        </p:nvSpPr>
        <p:spPr bwMode="auto">
          <a:xfrm>
            <a:off x="4626497" y="1447634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2000</a:t>
            </a:r>
          </a:p>
        </p:txBody>
      </p:sp>
      <p:sp>
        <p:nvSpPr>
          <p:cNvPr id="293" name="Rectangle 292"/>
          <p:cNvSpPr/>
          <p:nvPr/>
        </p:nvSpPr>
        <p:spPr bwMode="auto">
          <a:xfrm>
            <a:off x="4626497" y="1043324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2000</a:t>
            </a:r>
          </a:p>
        </p:txBody>
      </p:sp>
      <p:sp>
        <p:nvSpPr>
          <p:cNvPr id="89" name="Rectangle 88"/>
          <p:cNvSpPr/>
          <p:nvPr/>
        </p:nvSpPr>
        <p:spPr bwMode="auto">
          <a:xfrm>
            <a:off x="4626498" y="1965068"/>
            <a:ext cx="8717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2000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4626497" y="2378805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2000</a:t>
            </a:r>
          </a:p>
        </p:txBody>
      </p:sp>
      <p:sp>
        <p:nvSpPr>
          <p:cNvPr id="102" name="Rectangle 101"/>
          <p:cNvSpPr/>
          <p:nvPr/>
        </p:nvSpPr>
        <p:spPr bwMode="auto">
          <a:xfrm>
            <a:off x="4626497" y="3300549"/>
            <a:ext cx="865273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1500</a:t>
            </a:r>
          </a:p>
        </p:txBody>
      </p:sp>
      <p:sp>
        <p:nvSpPr>
          <p:cNvPr id="104" name="Rectangle 103"/>
          <p:cNvSpPr/>
          <p:nvPr/>
        </p:nvSpPr>
        <p:spPr bwMode="auto">
          <a:xfrm>
            <a:off x="4626498" y="2886812"/>
            <a:ext cx="8717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1500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4626497" y="3808556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1000</a:t>
            </a:r>
          </a:p>
        </p:txBody>
      </p:sp>
      <p:sp>
        <p:nvSpPr>
          <p:cNvPr id="120" name="Rectangle 119"/>
          <p:cNvSpPr/>
          <p:nvPr/>
        </p:nvSpPr>
        <p:spPr bwMode="auto">
          <a:xfrm>
            <a:off x="4626497" y="4222293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1000</a:t>
            </a:r>
          </a:p>
        </p:txBody>
      </p:sp>
      <p:sp>
        <p:nvSpPr>
          <p:cNvPr id="126" name="Rectangle 125"/>
          <p:cNvSpPr/>
          <p:nvPr/>
        </p:nvSpPr>
        <p:spPr bwMode="auto">
          <a:xfrm>
            <a:off x="4626498" y="4730300"/>
            <a:ext cx="865273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900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4626497" y="5144037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900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4626498" y="5652044"/>
            <a:ext cx="865273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600</a:t>
            </a:r>
          </a:p>
        </p:txBody>
      </p:sp>
      <p:sp>
        <p:nvSpPr>
          <p:cNvPr id="155" name="Rectangle 154"/>
          <p:cNvSpPr/>
          <p:nvPr/>
        </p:nvSpPr>
        <p:spPr bwMode="auto">
          <a:xfrm>
            <a:off x="4626498" y="6112914"/>
            <a:ext cx="8717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250</a:t>
            </a:r>
          </a:p>
        </p:txBody>
      </p:sp>
      <p:sp>
        <p:nvSpPr>
          <p:cNvPr id="286" name="Rectangle 285"/>
          <p:cNvSpPr/>
          <p:nvPr/>
        </p:nvSpPr>
        <p:spPr bwMode="auto">
          <a:xfrm>
            <a:off x="7609089" y="1447634"/>
            <a:ext cx="819723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100</a:t>
            </a:r>
          </a:p>
        </p:txBody>
      </p:sp>
      <p:sp>
        <p:nvSpPr>
          <p:cNvPr id="295" name="Rectangle 294"/>
          <p:cNvSpPr/>
          <p:nvPr/>
        </p:nvSpPr>
        <p:spPr bwMode="auto">
          <a:xfrm>
            <a:off x="7609089" y="1043324"/>
            <a:ext cx="819723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100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7609089" y="2378805"/>
            <a:ext cx="819723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100</a:t>
            </a:r>
          </a:p>
        </p:txBody>
      </p:sp>
      <p:sp>
        <p:nvSpPr>
          <p:cNvPr id="92" name="Rectangle 91"/>
          <p:cNvSpPr/>
          <p:nvPr/>
        </p:nvSpPr>
        <p:spPr bwMode="auto">
          <a:xfrm>
            <a:off x="7604619" y="1965068"/>
            <a:ext cx="824194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100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7615054" y="3300549"/>
            <a:ext cx="813759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100</a:t>
            </a:r>
          </a:p>
        </p:txBody>
      </p:sp>
      <p:sp>
        <p:nvSpPr>
          <p:cNvPr id="105" name="Rectangle 104"/>
          <p:cNvSpPr/>
          <p:nvPr/>
        </p:nvSpPr>
        <p:spPr bwMode="auto">
          <a:xfrm>
            <a:off x="7604618" y="2886812"/>
            <a:ext cx="824194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100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7607826" y="3808556"/>
            <a:ext cx="820986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100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7604618" y="4222293"/>
            <a:ext cx="824195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50</a:t>
            </a:r>
          </a:p>
        </p:txBody>
      </p:sp>
      <p:sp>
        <p:nvSpPr>
          <p:cNvPr id="127" name="Rectangle 126"/>
          <p:cNvSpPr/>
          <p:nvPr/>
        </p:nvSpPr>
        <p:spPr bwMode="auto">
          <a:xfrm>
            <a:off x="7604618" y="4730300"/>
            <a:ext cx="824194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50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615053" y="5144037"/>
            <a:ext cx="813759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50</a:t>
            </a:r>
          </a:p>
        </p:txBody>
      </p:sp>
      <p:sp>
        <p:nvSpPr>
          <p:cNvPr id="153" name="Rectangle 152"/>
          <p:cNvSpPr/>
          <p:nvPr/>
        </p:nvSpPr>
        <p:spPr bwMode="auto">
          <a:xfrm>
            <a:off x="7604618" y="5652044"/>
            <a:ext cx="824194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50</a:t>
            </a:r>
          </a:p>
        </p:txBody>
      </p:sp>
      <p:sp>
        <p:nvSpPr>
          <p:cNvPr id="156" name="Rectangle 155"/>
          <p:cNvSpPr/>
          <p:nvPr/>
        </p:nvSpPr>
        <p:spPr bwMode="auto">
          <a:xfrm>
            <a:off x="7604617" y="6112914"/>
            <a:ext cx="824195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50</a:t>
            </a:r>
          </a:p>
        </p:txBody>
      </p:sp>
      <p:sp>
        <p:nvSpPr>
          <p:cNvPr id="320" name="Rectangle 319"/>
          <p:cNvSpPr/>
          <p:nvPr/>
        </p:nvSpPr>
        <p:spPr bwMode="auto">
          <a:xfrm>
            <a:off x="5633342" y="1043324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650</a:t>
            </a:r>
          </a:p>
        </p:txBody>
      </p:sp>
      <p:sp>
        <p:nvSpPr>
          <p:cNvPr id="327" name="Rectangle 326"/>
          <p:cNvSpPr/>
          <p:nvPr/>
        </p:nvSpPr>
        <p:spPr bwMode="auto">
          <a:xfrm>
            <a:off x="5633342" y="1447634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500</a:t>
            </a:r>
          </a:p>
        </p:txBody>
      </p:sp>
      <p:sp>
        <p:nvSpPr>
          <p:cNvPr id="93" name="Rectangle 92"/>
          <p:cNvSpPr/>
          <p:nvPr/>
        </p:nvSpPr>
        <p:spPr bwMode="auto">
          <a:xfrm>
            <a:off x="5633343" y="1965068"/>
            <a:ext cx="871760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500</a:t>
            </a:r>
          </a:p>
        </p:txBody>
      </p:sp>
      <p:sp>
        <p:nvSpPr>
          <p:cNvPr id="94" name="Rectangle 93"/>
          <p:cNvSpPr/>
          <p:nvPr/>
        </p:nvSpPr>
        <p:spPr bwMode="auto">
          <a:xfrm>
            <a:off x="5633342" y="2378805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370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5633342" y="3300549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230</a:t>
            </a:r>
          </a:p>
        </p:txBody>
      </p:sp>
      <p:sp>
        <p:nvSpPr>
          <p:cNvPr id="107" name="Rectangle 106"/>
          <p:cNvSpPr/>
          <p:nvPr/>
        </p:nvSpPr>
        <p:spPr bwMode="auto">
          <a:xfrm>
            <a:off x="5633342" y="2886812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310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5633342" y="3808556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185</a:t>
            </a:r>
          </a:p>
        </p:txBody>
      </p:sp>
      <p:sp>
        <p:nvSpPr>
          <p:cNvPr id="123" name="Rectangle 122"/>
          <p:cNvSpPr/>
          <p:nvPr/>
        </p:nvSpPr>
        <p:spPr bwMode="auto">
          <a:xfrm>
            <a:off x="5633342" y="4222293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130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5633343" y="4730300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120</a:t>
            </a:r>
          </a:p>
        </p:txBody>
      </p:sp>
      <p:sp>
        <p:nvSpPr>
          <p:cNvPr id="131" name="Rectangle 130"/>
          <p:cNvSpPr/>
          <p:nvPr/>
        </p:nvSpPr>
        <p:spPr bwMode="auto">
          <a:xfrm>
            <a:off x="5633342" y="5144037"/>
            <a:ext cx="867032" cy="3697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accent1"/>
                </a:solidFill>
              </a:rPr>
              <a:t>85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5633342" y="5652044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50</a:t>
            </a:r>
          </a:p>
        </p:txBody>
      </p:sp>
      <p:sp>
        <p:nvSpPr>
          <p:cNvPr id="157" name="Rectangle 156"/>
          <p:cNvSpPr/>
          <p:nvPr/>
        </p:nvSpPr>
        <p:spPr bwMode="auto">
          <a:xfrm>
            <a:off x="5633342" y="6112914"/>
            <a:ext cx="867032" cy="369786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t" anchorCtr="0" compatLnSpc="1">
            <a:prstTxWarp prst="textNoShape">
              <a:avLst/>
            </a:prstTxWarp>
          </a:bodyPr>
          <a:lstStyle/>
          <a:p>
            <a:pPr algn="ctr" defTabSz="865978"/>
            <a:r>
              <a:rPr lang="en-GB" sz="1600" b="1" dirty="0">
                <a:solidFill>
                  <a:schemeClr val="bg2"/>
                </a:solidFill>
              </a:rPr>
              <a:t>25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455464" y="545471"/>
            <a:ext cx="1179887" cy="406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GB" sz="2400" b="1" dirty="0" smtClean="0">
                <a:solidFill>
                  <a:schemeClr val="accent1"/>
                </a:solidFill>
                <a:latin typeface="Vodafone ExB" panose="020B0503060202020204" pitchFamily="34" charset="0"/>
              </a:rPr>
              <a:t>Option</a:t>
            </a:r>
          </a:p>
        </p:txBody>
      </p:sp>
      <p:sp>
        <p:nvSpPr>
          <p:cNvPr id="84" name="Rectangle 83"/>
          <p:cNvSpPr/>
          <p:nvPr/>
        </p:nvSpPr>
        <p:spPr bwMode="auto">
          <a:xfrm>
            <a:off x="47878" y="1043325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100 V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47878" y="1464278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100 D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47878" y="1957852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80 V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47878" y="2378805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80 D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39221" y="2879595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50 V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39221" y="3300548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50 D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39221" y="3798415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30 V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39221" y="4219368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30 D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39221" y="4753576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20 V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39221" y="5174529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20 D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47878" y="5706180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10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47878" y="6127133"/>
            <a:ext cx="1853979" cy="355567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252" tIns="44327" rIns="85252" bIns="44327" numCol="1" rtlCol="0" anchor="ctr" anchorCtr="0" compatLnSpc="1">
            <a:prstTxWarp prst="textNoShape">
              <a:avLst/>
            </a:prstTxWarp>
          </a:bodyPr>
          <a:lstStyle/>
          <a:p>
            <a:pPr defTabSz="866042"/>
            <a:r>
              <a:rPr lang="en-GB" sz="1600" b="1" dirty="0" smtClean="0">
                <a:solidFill>
                  <a:schemeClr val="bg1"/>
                </a:solidFill>
              </a:rPr>
              <a:t>Smart Business SME 5</a:t>
            </a:r>
            <a:endParaRPr lang="en-GB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59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01" y="109430"/>
            <a:ext cx="6553156" cy="443887"/>
          </a:xfrm>
        </p:spPr>
        <p:txBody>
          <a:bodyPr/>
          <a:lstStyle/>
          <a:p>
            <a:pPr defTabSz="592652">
              <a:lnSpc>
                <a:spcPct val="90000"/>
              </a:lnSpc>
              <a:spcAft>
                <a:spcPct val="35000"/>
              </a:spcAft>
            </a:pPr>
            <a:r>
              <a:rPr lang="en-GB" dirty="0" smtClean="0">
                <a:solidFill>
                  <a:srgbClr val="DE0400"/>
                </a:solidFill>
              </a:rPr>
              <a:t>Bolt-on </a:t>
            </a:r>
            <a:r>
              <a:rPr lang="en-GB" dirty="0">
                <a:solidFill>
                  <a:srgbClr val="DE0400"/>
                </a:solidFill>
              </a:rPr>
              <a:t>Packages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619588" y="710032"/>
            <a:ext cx="1276014" cy="5324204"/>
            <a:chOff x="4318177" y="667992"/>
            <a:chExt cx="1701352" cy="5324204"/>
          </a:xfrm>
        </p:grpSpPr>
        <p:sp>
          <p:nvSpPr>
            <p:cNvPr id="83" name="Rectangle 82"/>
            <p:cNvSpPr/>
            <p:nvPr/>
          </p:nvSpPr>
          <p:spPr bwMode="auto">
            <a:xfrm>
              <a:off x="4318177" y="667992"/>
              <a:ext cx="1701352" cy="60736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333" b="1" dirty="0">
                  <a:solidFill>
                    <a:srgbClr val="FFFFFF"/>
                  </a:solidFill>
                </a:rPr>
                <a:t>Local</a:t>
              </a:r>
            </a:p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333" b="1" dirty="0">
                  <a:solidFill>
                    <a:srgbClr val="FFFFFF"/>
                  </a:solidFill>
                </a:rPr>
                <a:t>SMS Pack</a:t>
              </a:r>
            </a:p>
          </p:txBody>
        </p:sp>
        <p:sp>
          <p:nvSpPr>
            <p:cNvPr id="89" name="Rectangle 88"/>
            <p:cNvSpPr/>
            <p:nvPr/>
          </p:nvSpPr>
          <p:spPr bwMode="auto">
            <a:xfrm>
              <a:off x="4318177" y="208522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200 @ 4 </a:t>
              </a:r>
            </a:p>
          </p:txBody>
        </p:sp>
        <p:sp>
          <p:nvSpPr>
            <p:cNvPr id="90" name="Rectangle 89"/>
            <p:cNvSpPr/>
            <p:nvPr/>
          </p:nvSpPr>
          <p:spPr bwMode="auto">
            <a:xfrm>
              <a:off x="4318177" y="4807883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600 @  12  </a:t>
              </a:r>
            </a:p>
          </p:txBody>
        </p:sp>
        <p:sp>
          <p:nvSpPr>
            <p:cNvPr id="103" name="Rectangle 102"/>
            <p:cNvSpPr/>
            <p:nvPr/>
          </p:nvSpPr>
          <p:spPr bwMode="auto">
            <a:xfrm>
              <a:off x="4318177" y="2774243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300 @ 6</a:t>
              </a:r>
            </a:p>
          </p:txBody>
        </p:sp>
        <p:sp>
          <p:nvSpPr>
            <p:cNvPr id="104" name="Rectangle 103"/>
            <p:cNvSpPr/>
            <p:nvPr/>
          </p:nvSpPr>
          <p:spPr bwMode="auto">
            <a:xfrm>
              <a:off x="4318177" y="5524663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700 @ 14</a:t>
              </a:r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4318177" y="3436431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400 @ 8</a:t>
              </a:r>
            </a:p>
          </p:txBody>
        </p:sp>
        <p:sp>
          <p:nvSpPr>
            <p:cNvPr id="111" name="Rectangle 110"/>
            <p:cNvSpPr/>
            <p:nvPr/>
          </p:nvSpPr>
          <p:spPr bwMode="auto">
            <a:xfrm>
              <a:off x="5246748" y="139005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800 @ 16</a:t>
              </a: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4318177" y="4111331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500 @ 10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5246748" y="2068725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900 @ 18</a:t>
              </a: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4318177" y="1406559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100 @ 2</a:t>
              </a: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5246748" y="2757741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1000 @ 20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05329" y="710032"/>
            <a:ext cx="1281671" cy="5324204"/>
            <a:chOff x="124649" y="692705"/>
            <a:chExt cx="1708894" cy="5324204"/>
          </a:xfrm>
        </p:grpSpPr>
        <p:sp>
          <p:nvSpPr>
            <p:cNvPr id="80" name="Rectangle 79"/>
            <p:cNvSpPr/>
            <p:nvPr/>
          </p:nvSpPr>
          <p:spPr bwMode="auto">
            <a:xfrm>
              <a:off x="124649" y="692705"/>
              <a:ext cx="1708894" cy="60736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333" b="1" dirty="0">
                  <a:solidFill>
                    <a:srgbClr val="FFFFFF"/>
                  </a:solidFill>
                </a:rPr>
                <a:t>On-Net Pack</a:t>
              </a:r>
            </a:p>
          </p:txBody>
        </p:sp>
        <p:sp>
          <p:nvSpPr>
            <p:cNvPr id="87" name="Rectangle 86"/>
            <p:cNvSpPr/>
            <p:nvPr/>
          </p:nvSpPr>
          <p:spPr bwMode="auto">
            <a:xfrm>
              <a:off x="141278" y="483259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600mins @ 12</a:t>
              </a:r>
            </a:p>
          </p:txBody>
        </p:sp>
        <p:sp>
          <p:nvSpPr>
            <p:cNvPr id="101" name="Rectangle 100"/>
            <p:cNvSpPr/>
            <p:nvPr/>
          </p:nvSpPr>
          <p:spPr bwMode="auto">
            <a:xfrm>
              <a:off x="141278" y="554937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700mins @ 14 </a:t>
              </a: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060762" y="1431272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800mins @  16</a:t>
              </a: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1060762" y="2109940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900mins @ 18</a:t>
              </a: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141278" y="4136044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500mins @ 10</a:t>
              </a: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1060762" y="279895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1000mins @ 20</a:t>
              </a: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141278" y="1431272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100mins @ 2</a:t>
              </a: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141278" y="2109940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552" tIns="44487" rIns="85552" bIns="4448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916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200mins @ 4 </a:t>
              </a: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141278" y="279895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552" tIns="44487" rIns="85552" bIns="4448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916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300mins @ 6</a:t>
              </a: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141278" y="3461144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552" tIns="44487" rIns="85552" bIns="4448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916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400mins @ 8 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651817" y="710032"/>
            <a:ext cx="1282866" cy="5326268"/>
            <a:chOff x="9752503" y="659352"/>
            <a:chExt cx="1710488" cy="5326268"/>
          </a:xfrm>
        </p:grpSpPr>
        <p:sp>
          <p:nvSpPr>
            <p:cNvPr id="79" name="Rectangle 78"/>
            <p:cNvSpPr/>
            <p:nvPr/>
          </p:nvSpPr>
          <p:spPr bwMode="auto">
            <a:xfrm>
              <a:off x="9758939" y="659352"/>
              <a:ext cx="1704052" cy="60736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333" b="1" dirty="0">
                  <a:solidFill>
                    <a:srgbClr val="FFFFFF"/>
                  </a:solidFill>
                </a:rPr>
                <a:t>Open Bolt-</a:t>
              </a:r>
              <a:r>
                <a:rPr lang="en-GB" sz="1333" b="1" dirty="0" err="1">
                  <a:solidFill>
                    <a:srgbClr val="FFFFFF"/>
                  </a:solidFill>
                </a:rPr>
                <a:t>ons</a:t>
              </a:r>
              <a:endParaRPr lang="en-GB" sz="1333" b="1" dirty="0">
                <a:solidFill>
                  <a:srgbClr val="FFFFFF"/>
                </a:solidFill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9758939" y="207658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GHS 15</a:t>
              </a: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9758939" y="2765603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GHS 25</a:t>
              </a:r>
            </a:p>
          </p:txBody>
        </p:sp>
        <p:sp>
          <p:nvSpPr>
            <p:cNvPr id="86" name="Rectangle 85"/>
            <p:cNvSpPr/>
            <p:nvPr/>
          </p:nvSpPr>
          <p:spPr bwMode="auto">
            <a:xfrm>
              <a:off x="9758939" y="3427791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GHS 50</a:t>
              </a:r>
            </a:p>
          </p:txBody>
        </p:sp>
        <p:sp>
          <p:nvSpPr>
            <p:cNvPr id="92" name="Rectangle 91"/>
            <p:cNvSpPr/>
            <p:nvPr/>
          </p:nvSpPr>
          <p:spPr bwMode="auto">
            <a:xfrm>
              <a:off x="9758939" y="4102691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GHS 75</a:t>
              </a:r>
            </a:p>
          </p:txBody>
        </p:sp>
        <p:sp>
          <p:nvSpPr>
            <p:cNvPr id="95" name="Rectangle 94"/>
            <p:cNvSpPr/>
            <p:nvPr/>
          </p:nvSpPr>
          <p:spPr bwMode="auto">
            <a:xfrm>
              <a:off x="9758939" y="1397919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GHS 10</a:t>
              </a:r>
            </a:p>
          </p:txBody>
        </p:sp>
        <p:sp>
          <p:nvSpPr>
            <p:cNvPr id="99" name="Rectangle 98"/>
            <p:cNvSpPr/>
            <p:nvPr/>
          </p:nvSpPr>
          <p:spPr bwMode="auto">
            <a:xfrm>
              <a:off x="10690209" y="1397045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GHS 150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9755675" y="480090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GHS 100</a:t>
              </a:r>
            </a:p>
          </p:txBody>
        </p:sp>
        <p:sp>
          <p:nvSpPr>
            <p:cNvPr id="113" name="Rectangle 112"/>
            <p:cNvSpPr/>
            <p:nvPr/>
          </p:nvSpPr>
          <p:spPr bwMode="auto">
            <a:xfrm>
              <a:off x="9752503" y="551808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GHS 125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881761" y="710032"/>
            <a:ext cx="1343066" cy="6012901"/>
            <a:chOff x="2175118" y="667992"/>
            <a:chExt cx="1790755" cy="6012901"/>
          </a:xfrm>
        </p:grpSpPr>
        <p:sp>
          <p:nvSpPr>
            <p:cNvPr id="81" name="Rectangle 80"/>
            <p:cNvSpPr/>
            <p:nvPr/>
          </p:nvSpPr>
          <p:spPr bwMode="auto">
            <a:xfrm>
              <a:off x="2204923" y="667992"/>
              <a:ext cx="1760950" cy="60736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333" b="1" dirty="0">
                  <a:solidFill>
                    <a:srgbClr val="FFFFFF"/>
                  </a:solidFill>
                </a:rPr>
                <a:t>Cross-net/W1 Pack</a:t>
              </a:r>
            </a:p>
          </p:txBody>
        </p:sp>
        <p:sp>
          <p:nvSpPr>
            <p:cNvPr id="88" name="Rectangle 87"/>
            <p:cNvSpPr/>
            <p:nvPr/>
          </p:nvSpPr>
          <p:spPr bwMode="auto">
            <a:xfrm>
              <a:off x="2175118" y="6213360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600mins @ 60</a:t>
              </a:r>
            </a:p>
          </p:txBody>
        </p:sp>
        <p:sp>
          <p:nvSpPr>
            <p:cNvPr id="102" name="Rectangle 101"/>
            <p:cNvSpPr/>
            <p:nvPr/>
          </p:nvSpPr>
          <p:spPr bwMode="auto">
            <a:xfrm>
              <a:off x="3160491" y="1397919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700mins @ 70</a:t>
              </a:r>
            </a:p>
          </p:txBody>
        </p:sp>
        <p:sp>
          <p:nvSpPr>
            <p:cNvPr id="109" name="Rectangle 108"/>
            <p:cNvSpPr/>
            <p:nvPr/>
          </p:nvSpPr>
          <p:spPr bwMode="auto">
            <a:xfrm>
              <a:off x="3160491" y="2084614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800mins @ 80</a:t>
              </a: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3160491" y="2771309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900mins @ 90</a:t>
              </a: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2175118" y="5526071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500mins @ 50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3160491" y="3458004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1000mins @ 100</a:t>
              </a: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2175118" y="2776915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552" tIns="44487" rIns="85552" bIns="4448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916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100mins @ 10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2175118" y="3464204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552" tIns="44487" rIns="85552" bIns="4448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916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200mins @ 20 </a:t>
              </a: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2175118" y="4151493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552" tIns="44487" rIns="85552" bIns="4448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916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300mins @ 30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2175118" y="4838782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552" tIns="44487" rIns="85552" bIns="4448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916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400mins @ 40 </a:t>
              </a: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3160491" y="4144699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0000"/>
                  </a:solidFill>
                </a:rPr>
                <a:t>1200mins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120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 bwMode="auto">
            <a:xfrm>
              <a:off x="3160491" y="4831394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0000"/>
                  </a:solidFill>
                </a:rPr>
                <a:t>1500mins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150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3160491" y="551808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2</a:t>
              </a:r>
              <a:r>
                <a:rPr lang="en-GB" sz="1100" dirty="0" smtClean="0">
                  <a:solidFill>
                    <a:srgbClr val="000000"/>
                  </a:solidFill>
                </a:rPr>
                <a:t>000mins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200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2175118" y="140233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0000"/>
                  </a:solidFill>
                </a:rPr>
                <a:t>20mins </a:t>
              </a:r>
              <a:r>
                <a:rPr lang="en-GB" sz="1100" dirty="0">
                  <a:solidFill>
                    <a:srgbClr val="000000"/>
                  </a:solidFill>
                </a:rPr>
                <a:t>@ 2</a:t>
              </a: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2175118" y="208962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0000"/>
                  </a:solidFill>
                </a:rPr>
                <a:t>50mins </a:t>
              </a:r>
              <a:r>
                <a:rPr lang="en-GB" sz="1100" dirty="0">
                  <a:solidFill>
                    <a:srgbClr val="000000"/>
                  </a:solidFill>
                </a:rPr>
                <a:t>@ 5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290363" y="710033"/>
            <a:ext cx="1966694" cy="5949695"/>
            <a:chOff x="6594884" y="692705"/>
            <a:chExt cx="2622259" cy="5949695"/>
          </a:xfrm>
        </p:grpSpPr>
        <p:sp>
          <p:nvSpPr>
            <p:cNvPr id="84" name="Rectangle 83"/>
            <p:cNvSpPr/>
            <p:nvPr/>
          </p:nvSpPr>
          <p:spPr bwMode="auto">
            <a:xfrm>
              <a:off x="6598518" y="692705"/>
              <a:ext cx="2618625" cy="60736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333" b="1" dirty="0">
                  <a:solidFill>
                    <a:srgbClr val="FFFFFF"/>
                  </a:solidFill>
                </a:rPr>
                <a:t>Data Pack</a:t>
              </a:r>
            </a:p>
          </p:txBody>
        </p:sp>
        <p:sp>
          <p:nvSpPr>
            <p:cNvPr id="91" name="Rectangle 90"/>
            <p:cNvSpPr/>
            <p:nvPr/>
          </p:nvSpPr>
          <p:spPr bwMode="auto">
            <a:xfrm>
              <a:off x="6598519" y="2078651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200MB @ 4</a:t>
              </a:r>
            </a:p>
          </p:txBody>
        </p:sp>
        <p:sp>
          <p:nvSpPr>
            <p:cNvPr id="105" name="Rectangle 104"/>
            <p:cNvSpPr/>
            <p:nvPr/>
          </p:nvSpPr>
          <p:spPr bwMode="auto">
            <a:xfrm>
              <a:off x="6598519" y="276766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300MB @ 6</a:t>
              </a:r>
            </a:p>
          </p:txBody>
        </p:sp>
        <p:sp>
          <p:nvSpPr>
            <p:cNvPr id="112" name="Rectangle 111"/>
            <p:cNvSpPr/>
            <p:nvPr/>
          </p:nvSpPr>
          <p:spPr bwMode="auto">
            <a:xfrm>
              <a:off x="6598519" y="3429855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400MB @ 8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6598519" y="4104755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500MB @ 10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7516495" y="3427791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52" tIns="44433" rIns="85452" bIns="4443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4GB @ 60</a:t>
              </a: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7516495" y="4754343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52" tIns="44433" rIns="85452" bIns="4443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6</a:t>
              </a:r>
              <a:r>
                <a:rPr lang="en-GB" sz="1100" dirty="0" smtClean="0">
                  <a:solidFill>
                    <a:srgbClr val="000000"/>
                  </a:solidFill>
                </a:rPr>
                <a:t>GB </a:t>
              </a:r>
              <a:r>
                <a:rPr lang="en-GB" sz="1100" dirty="0">
                  <a:solidFill>
                    <a:srgbClr val="000000"/>
                  </a:solidFill>
                </a:rPr>
                <a:t>@ 80</a:t>
              </a: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6598519" y="1399983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100MB @ 2 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7516495" y="2068724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2.5GB @ 40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6598519" y="480130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750MB @ 15</a:t>
              </a: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6594884" y="617486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1.2GB @ 20</a:t>
              </a: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7516495" y="5443827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52" tIns="44433" rIns="85452" bIns="4443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7GB @ 9</a:t>
              </a:r>
              <a:r>
                <a:rPr lang="en-GB" sz="1100" dirty="0" smtClean="0">
                  <a:solidFill>
                    <a:srgbClr val="000000"/>
                  </a:solidFill>
                </a:rPr>
                <a:t>0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98" name="Rectangle 97"/>
            <p:cNvSpPr/>
            <p:nvPr/>
          </p:nvSpPr>
          <p:spPr bwMode="auto">
            <a:xfrm>
              <a:off x="8432699" y="138000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52" tIns="44433" rIns="85452" bIns="4443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0000"/>
                  </a:solidFill>
                </a:rPr>
                <a:t>12GB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140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100" name="Rectangle 99"/>
            <p:cNvSpPr/>
            <p:nvPr/>
          </p:nvSpPr>
          <p:spPr bwMode="auto">
            <a:xfrm>
              <a:off x="8432699" y="2069022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52" tIns="44433" rIns="85452" bIns="4443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0000"/>
                  </a:solidFill>
                </a:rPr>
                <a:t>15GB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160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107" name="Rectangle 106"/>
            <p:cNvSpPr/>
            <p:nvPr/>
          </p:nvSpPr>
          <p:spPr bwMode="auto">
            <a:xfrm>
              <a:off x="7509320" y="617486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10GB @ 120</a:t>
              </a: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8432699" y="275850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52" tIns="44433" rIns="85452" bIns="4443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0000"/>
                  </a:solidFill>
                </a:rPr>
                <a:t>17GB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175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8432699" y="3406110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52" tIns="44433" rIns="85452" bIns="4443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2</a:t>
              </a:r>
              <a:r>
                <a:rPr lang="en-GB" sz="1100" dirty="0" smtClean="0">
                  <a:solidFill>
                    <a:srgbClr val="000000"/>
                  </a:solidFill>
                </a:rPr>
                <a:t>0GB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185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6594884" y="5478315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 smtClean="0">
                  <a:solidFill>
                    <a:srgbClr val="000000"/>
                  </a:solidFill>
                </a:rPr>
                <a:t>1GB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18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7516495" y="1386096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2</a:t>
              </a:r>
              <a:r>
                <a:rPr lang="en-GB" sz="1100" dirty="0" smtClean="0">
                  <a:solidFill>
                    <a:srgbClr val="000000"/>
                  </a:solidFill>
                </a:rPr>
                <a:t>GB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35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7520888" y="4088082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52" tIns="44433" rIns="85452" bIns="4443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5</a:t>
              </a:r>
              <a:r>
                <a:rPr lang="en-GB" sz="1100" dirty="0" smtClean="0">
                  <a:solidFill>
                    <a:srgbClr val="000000"/>
                  </a:solidFill>
                </a:rPr>
                <a:t>GB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70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  <p:sp>
          <p:nvSpPr>
            <p:cNvPr id="126" name="Rectangle 125"/>
            <p:cNvSpPr/>
            <p:nvPr/>
          </p:nvSpPr>
          <p:spPr bwMode="auto">
            <a:xfrm>
              <a:off x="7509321" y="2738918"/>
              <a:ext cx="772781" cy="467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5432" tIns="44423" rIns="85432" bIns="4442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791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sz="1100" dirty="0">
                  <a:solidFill>
                    <a:srgbClr val="000000"/>
                  </a:solidFill>
                </a:rPr>
                <a:t>3</a:t>
              </a:r>
              <a:r>
                <a:rPr lang="en-GB" sz="1100" dirty="0" smtClean="0">
                  <a:solidFill>
                    <a:srgbClr val="000000"/>
                  </a:solidFill>
                </a:rPr>
                <a:t>GB </a:t>
              </a:r>
              <a:r>
                <a:rPr lang="en-GB" sz="1100" dirty="0">
                  <a:solidFill>
                    <a:srgbClr val="000000"/>
                  </a:solidFill>
                </a:rPr>
                <a:t>@ </a:t>
              </a:r>
              <a:r>
                <a:rPr lang="en-GB" sz="1100" dirty="0" smtClean="0">
                  <a:solidFill>
                    <a:srgbClr val="000000"/>
                  </a:solidFill>
                </a:rPr>
                <a:t>45</a:t>
              </a:r>
              <a:endParaRPr lang="en-GB" sz="11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539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8211" y="1449888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100mins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211" y="2368548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300mins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8211" y="2827876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400mins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211" y="3287208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500mins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211" y="1909216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200mins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1241" y="479965"/>
            <a:ext cx="1314068" cy="862584"/>
          </a:xfrm>
          <a:prstGeom prst="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67" dirty="0">
                <a:solidFill>
                  <a:schemeClr val="tx1"/>
                </a:solidFill>
              </a:rPr>
              <a:t>China, India-mobile, Italy Fixed, UK-fixed,</a:t>
            </a:r>
          </a:p>
          <a:p>
            <a:pPr algn="ctr"/>
            <a:r>
              <a:rPr lang="en-GB" sz="1067" dirty="0">
                <a:solidFill>
                  <a:schemeClr val="tx1"/>
                </a:solidFill>
              </a:rPr>
              <a:t>USA/Canada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03614" y="144988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03614" y="236854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03614" y="282787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03614" y="328720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03614" y="190921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4533" y="465753"/>
            <a:ext cx="1314068" cy="862584"/>
          </a:xfrm>
          <a:prstGeom prst="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67" dirty="0">
                <a:solidFill>
                  <a:schemeClr val="tx1"/>
                </a:solidFill>
              </a:rPr>
              <a:t>India-Fixed, South Africa-Fixed, Turkey-Fixed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552" y="144988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552" y="236854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552" y="282787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552" y="328720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552" y="190921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12093" y="479965"/>
            <a:ext cx="1314068" cy="862584"/>
          </a:xfrm>
          <a:prstGeom prst="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67" dirty="0">
                <a:solidFill>
                  <a:schemeClr val="tx1"/>
                </a:solidFill>
              </a:rPr>
              <a:t>Egypt, Nigeria, Turkey-Mobile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85019" y="144988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85019" y="236854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75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85019" y="282787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85019" y="328720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85019" y="190921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7588" y="482867"/>
            <a:ext cx="1314068" cy="862584"/>
          </a:xfrm>
          <a:prstGeom prst="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67" dirty="0">
                <a:solidFill>
                  <a:schemeClr val="tx1"/>
                </a:solidFill>
              </a:rPr>
              <a:t>UAE, Saudi Arabia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77344" y="145278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77344" y="237144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77344" y="283077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77344" y="329010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77344" y="1912120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87276" y="482867"/>
            <a:ext cx="1314068" cy="862584"/>
          </a:xfrm>
          <a:prstGeom prst="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67" dirty="0">
                <a:solidFill>
                  <a:schemeClr val="tx1"/>
                </a:solidFill>
              </a:rPr>
              <a:t>Burkina Faso, Ivory Coast, Togo</a:t>
            </a:r>
          </a:p>
          <a:p>
            <a:pPr algn="ctr"/>
            <a:endParaRPr lang="en-GB" sz="1067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713651" y="145278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13651" y="237144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13651" y="283077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280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13651" y="329010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350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13651" y="1912120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6977" y="3746536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600mins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6977" y="4205868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700mins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12382" y="374653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60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12382" y="420586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60319" y="374653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60319" y="420586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93786" y="374653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93786" y="420586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175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86110" y="3749439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86110" y="420876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280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22418" y="3749439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420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22418" y="420876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490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876" y="4665196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800mins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17279" y="466519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65217" y="466519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98684" y="466519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91009" y="4668100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320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27316" y="4668100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560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0642" y="5124528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900mins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642" y="5583856"/>
            <a:ext cx="987278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1000mins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26047" y="512452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26047" y="558385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73984" y="512452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135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73984" y="558385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150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07451" y="512452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225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07451" y="558385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250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399775" y="512742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360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99775" y="558675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400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36083" y="512742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630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36083" y="558675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700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4909" y="120223"/>
            <a:ext cx="1445475" cy="44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867" b="1" dirty="0">
                <a:solidFill>
                  <a:schemeClr val="tx1"/>
                </a:solidFill>
              </a:rPr>
              <a:t>World 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33060" y="120223"/>
            <a:ext cx="1445475" cy="44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867" b="1" dirty="0">
                <a:solidFill>
                  <a:schemeClr val="tx1"/>
                </a:solidFill>
              </a:rPr>
              <a:t>World 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97019" y="120223"/>
            <a:ext cx="1445475" cy="44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867" b="1" dirty="0">
                <a:solidFill>
                  <a:schemeClr val="tx1"/>
                </a:solidFill>
              </a:rPr>
              <a:t>World 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40901" y="120223"/>
            <a:ext cx="1445475" cy="44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867" b="1" dirty="0">
                <a:solidFill>
                  <a:schemeClr val="tx1"/>
                </a:solidFill>
              </a:rPr>
              <a:t>World 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99544" y="120223"/>
            <a:ext cx="1445475" cy="44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867" b="1" dirty="0">
                <a:solidFill>
                  <a:schemeClr val="tx1"/>
                </a:solidFill>
              </a:rPr>
              <a:t>World 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22769" y="482573"/>
            <a:ext cx="1314068" cy="862584"/>
          </a:xfrm>
          <a:prstGeom prst="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67" dirty="0">
                <a:solidFill>
                  <a:schemeClr val="tx1"/>
                </a:solidFill>
              </a:rPr>
              <a:t>Morocco-fixed, Egypt, Nigeria, Mozambique, Kenya-fixed, Malawi, Zambia, Botswana, Namibia, South Africa, Zimbabwe-fixed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9144" y="1452494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49144" y="237115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74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49144" y="283048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99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49144" y="328981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124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49144" y="1911827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057912" y="374914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149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57912" y="420847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173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62809" y="4667808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198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71577" y="5127136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223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71577" y="5586464"/>
            <a:ext cx="815932" cy="365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67" dirty="0">
                <a:solidFill>
                  <a:schemeClr val="tx1"/>
                </a:solidFill>
              </a:rPr>
              <a:t>248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35037" y="119930"/>
            <a:ext cx="1445475" cy="442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867" b="1" dirty="0">
                <a:solidFill>
                  <a:schemeClr val="tx1"/>
                </a:solidFill>
              </a:rPr>
              <a:t>Africa Package</a:t>
            </a:r>
          </a:p>
        </p:txBody>
      </p:sp>
    </p:spTree>
    <p:extLst>
      <p:ext uri="{BB962C8B-B14F-4D97-AF65-F5344CB8AC3E}">
        <p14:creationId xmlns:p14="http://schemas.microsoft.com/office/powerpoint/2010/main" val="114167475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82567"/>
            <a:ext cx="9144000" cy="479271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1000" kern="1200" dirty="0" smtClean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343309" y="1505787"/>
            <a:ext cx="2406768" cy="73091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3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600" b="1" dirty="0">
                <a:solidFill>
                  <a:srgbClr val="34342B"/>
                </a:solidFill>
                <a:latin typeface="Vodafone Rg"/>
              </a:rPr>
              <a:t>Plans for average data usage devices</a:t>
            </a:r>
          </a:p>
        </p:txBody>
      </p: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76245" y="66688"/>
            <a:ext cx="6269376" cy="443887"/>
          </a:xfrm>
        </p:spPr>
        <p:txBody>
          <a:bodyPr/>
          <a:lstStyle/>
          <a:p>
            <a:pPr defTabSz="592637">
              <a:lnSpc>
                <a:spcPct val="90000"/>
              </a:lnSpc>
              <a:spcAft>
                <a:spcPct val="35000"/>
              </a:spcAft>
            </a:pPr>
            <a:r>
              <a:rPr lang="en-GB" sz="3733" dirty="0" smtClean="0">
                <a:solidFill>
                  <a:srgbClr val="DE0400"/>
                </a:solidFill>
              </a:rPr>
              <a:t>Smart </a:t>
            </a:r>
            <a:r>
              <a:rPr lang="en-GB" sz="3733" dirty="0">
                <a:solidFill>
                  <a:srgbClr val="DE0400"/>
                </a:solidFill>
              </a:rPr>
              <a:t>Choice data proposition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>
          <a:xfrm>
            <a:off x="4155963" y="6167951"/>
            <a:ext cx="413410" cy="366183"/>
          </a:xfrm>
        </p:spPr>
        <p:txBody>
          <a:bodyPr/>
          <a:lstStyle/>
          <a:p>
            <a:pPr defTabSz="1219140"/>
            <a:fld id="{72A83A2B-3358-44F8-83A0-4598795D8FB5}" type="slidenum">
              <a:rPr lang="en-GB">
                <a:solidFill>
                  <a:srgbClr val="FFFFFF"/>
                </a:solidFill>
                <a:latin typeface="Vodafone Rg"/>
              </a:rPr>
              <a:pPr defTabSz="1219140"/>
              <a:t>6</a:t>
            </a:fld>
            <a:endParaRPr lang="en-GB" dirty="0">
              <a:solidFill>
                <a:srgbClr val="FFFFFF"/>
              </a:solidFill>
              <a:latin typeface="Vodafone Rg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4564" y="1505787"/>
            <a:ext cx="2157569" cy="707243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3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600" b="1" dirty="0">
                <a:solidFill>
                  <a:srgbClr val="34342B"/>
                </a:solidFill>
                <a:latin typeface="Vodafone Rg"/>
              </a:rPr>
              <a:t>Plans for low data usage devices usually m2m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4821" y="1505787"/>
            <a:ext cx="2212565" cy="771499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3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600" b="1" dirty="0">
                <a:solidFill>
                  <a:srgbClr val="34342B"/>
                </a:solidFill>
                <a:latin typeface="Vodafone Rg"/>
              </a:rPr>
              <a:t>Plans for high data usage devices like routers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14556"/>
              </p:ext>
            </p:extLst>
          </p:nvPr>
        </p:nvGraphicFramePr>
        <p:xfrm>
          <a:off x="534889" y="2213030"/>
          <a:ext cx="2127862" cy="3506754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063931">
                  <a:extLst>
                    <a:ext uri="{9D8B030D-6E8A-4147-A177-3AD203B41FA5}">
                      <a16:colId xmlns:a16="http://schemas.microsoft.com/office/drawing/2014/main" xmlns="" val="502896230"/>
                    </a:ext>
                  </a:extLst>
                </a:gridCol>
                <a:gridCol w="1063931">
                  <a:extLst>
                    <a:ext uri="{9D8B030D-6E8A-4147-A177-3AD203B41FA5}">
                      <a16:colId xmlns:a16="http://schemas.microsoft.com/office/drawing/2014/main" xmlns="" val="1024233280"/>
                    </a:ext>
                  </a:extLst>
                </a:gridCol>
              </a:tblGrid>
              <a:tr h="472699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Data</a:t>
                      </a:r>
                      <a:endParaRPr lang="en-GB" sz="1900" dirty="0"/>
                    </a:p>
                  </a:txBody>
                  <a:tcPr marL="68580" marR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Price(GHC)</a:t>
                      </a:r>
                      <a:endParaRPr lang="en-GB" sz="1900" dirty="0"/>
                    </a:p>
                  </a:txBody>
                  <a:tcPr marL="68580" marR="68580">
                    <a:lnB w="38100" cap="flat" cmpd="sng" algn="ctr">
                      <a:noFill/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88776860"/>
                  </a:ext>
                </a:extLst>
              </a:tr>
              <a:tr h="472699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75MB</a:t>
                      </a:r>
                      <a:endParaRPr lang="en-GB" sz="1900" dirty="0"/>
                    </a:p>
                  </a:txBody>
                  <a:tcPr marL="68580" marR="68580" anchor="ctr">
                    <a:lnR>
                      <a:noFill/>
                    </a:ln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3</a:t>
                      </a:r>
                      <a:endParaRPr lang="en-GB" sz="1900" dirty="0"/>
                    </a:p>
                  </a:txBody>
                  <a:tcPr marL="68580" marR="6858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48009075"/>
                  </a:ext>
                </a:extLst>
              </a:tr>
              <a:tr h="472699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150MB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5</a:t>
                      </a:r>
                      <a:endParaRPr lang="en-GB" sz="1900" dirty="0"/>
                    </a:p>
                  </a:txBody>
                  <a:tcPr marL="68580" marR="68580" anchor="ctr">
                    <a:lnT>
                      <a:noFill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09864562"/>
                  </a:ext>
                </a:extLst>
              </a:tr>
              <a:tr h="472699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250MB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8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91029005"/>
                  </a:ext>
                </a:extLst>
              </a:tr>
              <a:tr h="472699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500MB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10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0570199"/>
                  </a:ext>
                </a:extLst>
              </a:tr>
              <a:tr h="472699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1GB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18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14012781"/>
                  </a:ext>
                </a:extLst>
              </a:tr>
              <a:tr h="472699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2GB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30</a:t>
                      </a:r>
                      <a:endParaRPr lang="en-GB" sz="1900" dirty="0"/>
                    </a:p>
                  </a:txBody>
                  <a:tcPr marL="68580" marR="6858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956000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227942"/>
              </p:ext>
            </p:extLst>
          </p:nvPr>
        </p:nvGraphicFramePr>
        <p:xfrm>
          <a:off x="3324432" y="2236697"/>
          <a:ext cx="2440336" cy="3285226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220168">
                  <a:extLst>
                    <a:ext uri="{9D8B030D-6E8A-4147-A177-3AD203B41FA5}">
                      <a16:colId xmlns:a16="http://schemas.microsoft.com/office/drawing/2014/main" xmlns="" val="2378127031"/>
                    </a:ext>
                  </a:extLst>
                </a:gridCol>
                <a:gridCol w="1220168">
                  <a:extLst>
                    <a:ext uri="{9D8B030D-6E8A-4147-A177-3AD203B41FA5}">
                      <a16:colId xmlns:a16="http://schemas.microsoft.com/office/drawing/2014/main" xmlns="" val="1433518763"/>
                    </a:ext>
                  </a:extLst>
                </a:gridCol>
              </a:tblGrid>
              <a:tr h="469318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Data</a:t>
                      </a:r>
                      <a:endParaRPr lang="en-GB" sz="1900" dirty="0"/>
                    </a:p>
                  </a:txBody>
                  <a:tcPr marL="68580" marR="68580">
                    <a:lnB w="38100" cap="flat" cmpd="sng" algn="ctr">
                      <a:noFill/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Price(GHC)</a:t>
                      </a:r>
                      <a:endParaRPr lang="en-GB" sz="1900" dirty="0"/>
                    </a:p>
                  </a:txBody>
                  <a:tcPr marL="68580" marR="68580">
                    <a:lnB w="38100" cap="flat" cmpd="sng" algn="ctr">
                      <a:noFill/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9747022"/>
                  </a:ext>
                </a:extLst>
              </a:tr>
              <a:tr h="469318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3.5GB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48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22190459"/>
                  </a:ext>
                </a:extLst>
              </a:tr>
              <a:tr h="469318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4.5GB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60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91271225"/>
                  </a:ext>
                </a:extLst>
              </a:tr>
              <a:tr h="469318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5.5GB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72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88042384"/>
                  </a:ext>
                </a:extLst>
              </a:tr>
              <a:tr h="469318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7GB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89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79428981"/>
                  </a:ext>
                </a:extLst>
              </a:tr>
              <a:tr h="469318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10GB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120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8113941"/>
                  </a:ext>
                </a:extLst>
              </a:tr>
              <a:tr h="469318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15GB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170</a:t>
                      </a:r>
                      <a:endParaRPr lang="en-GB" sz="1900" dirty="0"/>
                    </a:p>
                  </a:txBody>
                  <a:tcPr marL="68580" marR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6016717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609603"/>
              </p:ext>
            </p:extLst>
          </p:nvPr>
        </p:nvGraphicFramePr>
        <p:xfrm>
          <a:off x="6426448" y="2188807"/>
          <a:ext cx="2220938" cy="3383718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110469">
                  <a:extLst>
                    <a:ext uri="{9D8B030D-6E8A-4147-A177-3AD203B41FA5}">
                      <a16:colId xmlns:a16="http://schemas.microsoft.com/office/drawing/2014/main" xmlns="" val="502896230"/>
                    </a:ext>
                  </a:extLst>
                </a:gridCol>
                <a:gridCol w="1110469">
                  <a:extLst>
                    <a:ext uri="{9D8B030D-6E8A-4147-A177-3AD203B41FA5}">
                      <a16:colId xmlns:a16="http://schemas.microsoft.com/office/drawing/2014/main" xmlns="" val="1024233280"/>
                    </a:ext>
                  </a:extLst>
                </a:gridCol>
              </a:tblGrid>
              <a:tr h="452193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Data</a:t>
                      </a:r>
                      <a:endParaRPr lang="en-GB" sz="1900" dirty="0"/>
                    </a:p>
                  </a:txBody>
                  <a:tcPr marL="68580" marR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Price(GHC)</a:t>
                      </a:r>
                      <a:endParaRPr lang="en-GB" sz="1900" dirty="0"/>
                    </a:p>
                  </a:txBody>
                  <a:tcPr marL="68580" marR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88776860"/>
                  </a:ext>
                </a:extLst>
              </a:tr>
              <a:tr h="452193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50GB</a:t>
                      </a:r>
                      <a:endParaRPr lang="en-GB" sz="1900" dirty="0"/>
                    </a:p>
                  </a:txBody>
                  <a:tcPr marL="68580" marR="6858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250</a:t>
                      </a:r>
                      <a:endParaRPr lang="en-GB" sz="1900" dirty="0"/>
                    </a:p>
                  </a:txBody>
                  <a:tcPr marL="68580" marR="6858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09864562"/>
                  </a:ext>
                </a:extLst>
              </a:tr>
              <a:tr h="452193"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100GB</a:t>
                      </a:r>
                      <a:endParaRPr lang="en-GB" sz="1900" dirty="0"/>
                    </a:p>
                  </a:txBody>
                  <a:tcPr marL="68580" marR="6858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dirty="0" smtClean="0"/>
                        <a:t>349</a:t>
                      </a:r>
                      <a:endParaRPr lang="en-GB" sz="1900" dirty="0"/>
                    </a:p>
                  </a:txBody>
                  <a:tcPr marL="68580" marR="6858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91029005"/>
                  </a:ext>
                </a:extLst>
              </a:tr>
              <a:tr h="452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900" dirty="0">
                          <a:effectLst/>
                        </a:rPr>
                        <a:t>300 GB</a:t>
                      </a:r>
                      <a:endParaRPr lang="en-GB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813" marR="38813" marT="7188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900" dirty="0">
                          <a:effectLst/>
                        </a:rPr>
                        <a:t>499</a:t>
                      </a:r>
                      <a:endParaRPr lang="en-GB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813" marR="38813" marT="7188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0570199"/>
                  </a:ext>
                </a:extLst>
              </a:tr>
              <a:tr h="452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900" dirty="0">
                          <a:effectLst/>
                        </a:rPr>
                        <a:t>350 GB</a:t>
                      </a:r>
                      <a:endParaRPr lang="en-GB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813" marR="38813" marT="7188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900" dirty="0">
                          <a:effectLst/>
                        </a:rPr>
                        <a:t>549</a:t>
                      </a:r>
                      <a:endParaRPr lang="en-GB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813" marR="38813" marT="7188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72932342"/>
                  </a:ext>
                </a:extLst>
              </a:tr>
              <a:tr h="452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900">
                          <a:effectLst/>
                        </a:rPr>
                        <a:t>400 GB</a:t>
                      </a:r>
                      <a:endParaRPr lang="en-GB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813" marR="38813" marT="7188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900" dirty="0">
                          <a:effectLst/>
                        </a:rPr>
                        <a:t>599</a:t>
                      </a:r>
                      <a:endParaRPr lang="en-GB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813" marR="38813" marT="7188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93067880"/>
                  </a:ext>
                </a:extLst>
              </a:tr>
              <a:tr h="452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900">
                          <a:effectLst/>
                        </a:rPr>
                        <a:t>500 GB</a:t>
                      </a:r>
                      <a:endParaRPr lang="en-GB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813" marR="38813" marT="7188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900" dirty="0">
                          <a:effectLst/>
                        </a:rPr>
                        <a:t>649</a:t>
                      </a:r>
                      <a:endParaRPr lang="en-GB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813" marR="38813" marT="7188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852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On-screen Show (4:3)</PresentationFormat>
  <Paragraphs>358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SME  Packages</vt:lpstr>
      <vt:lpstr>Bolt-on Packages</vt:lpstr>
      <vt:lpstr>PowerPoint Presentation</vt:lpstr>
      <vt:lpstr>Smart Choice data proposition</vt:lpstr>
    </vt:vector>
  </TitlesOfParts>
  <Company>Vodafone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Owusu, Daniel, Vodafone Ghana (External)</dc:creator>
  <cp:lastModifiedBy>Owusu, Daniel, Vodafone Ghana (External)</cp:lastModifiedBy>
  <cp:revision>1</cp:revision>
  <dcterms:created xsi:type="dcterms:W3CDTF">2018-05-16T17:49:39Z</dcterms:created>
  <dcterms:modified xsi:type="dcterms:W3CDTF">2018-05-16T17:50:58Z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-490035864</vt:i4>
  </property>
  <property fmtid="{D5CDD505-2E9C-101B-9397-08002B2CF9AE}" pid="3" name="_NewReviewCycle">
    <vt:lpwstr/>
  </property>
  <property fmtid="{D5CDD505-2E9C-101B-9397-08002B2CF9AE}" pid="4" name="_EmailSubject">
    <vt:lpwstr> MOBILE PROPOSAL</vt:lpwstr>
  </property>
  <property fmtid="{D5CDD505-2E9C-101B-9397-08002B2CF9AE}" pid="5" name="_AuthorEmail">
    <vt:lpwstr>daniel.owusu1@vodafone.com</vt:lpwstr>
  </property>
  <property fmtid="{D5CDD505-2E9C-101B-9397-08002B2CF9AE}" pid="6" name="_AuthorEmailDisplayName">
    <vt:lpwstr>Owusu, Daniel, Vodafone Ghana (External)</vt:lpwstr>
  </property>
</Properties>
</file>